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Arimo Semi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4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OSTutorLLM as an undergraduate operating systems course tutor combining grounded retrieval and interactive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three core problems faced by students and the three corresponding technical objectives of OSTutorLLM.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two-stage pipeline: offline document preparation and online hybrid question answering, highlighting that retrieval strictly precedes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tutor functionalities including grounded answers, multimodal practice modes, threshold checks, and placeholder captures.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division of labor: Python guarantees exact numeric schedules while the LLM provides contextual conceptual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completed deliverables alongside acknowledged technical dependencies, evaluation needs, and planned system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canonical references for RAG, Sentence-BERT, model weights, and underlying retrieval frameworks.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radio.app/docs" TargetMode="External"/><Relationship Id="rId3" Type="http://schemas.openxmlformats.org/officeDocument/2006/relationships/hyperlink" Target="https://arxiv.org/abs/2005.11401" TargetMode="External"/><Relationship Id="rId7" Type="http://schemas.openxmlformats.org/officeDocument/2006/relationships/hyperlink" Target="https://docs.trychroma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huggingface.co/sentence-transformers/all-MiniLM-L6-v2" TargetMode="External"/><Relationship Id="rId5" Type="http://schemas.openxmlformats.org/officeDocument/2006/relationships/hyperlink" Target="https://huggingface.co/Qwen/Qwen3-4B" TargetMode="External"/><Relationship Id="rId4" Type="http://schemas.openxmlformats.org/officeDocument/2006/relationships/hyperlink" Target="https://aclanthology.org/D19-141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170" y="2593380"/>
            <a:ext cx="38099" cy="1003995"/>
          </a:xfrm>
          <a:prstGeom prst="rect">
            <a:avLst/>
          </a:prstGeom>
          <a:solidFill>
            <a:srgbClr val="C01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85863" y="2626971"/>
            <a:ext cx="5592027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800" b="1" kern="100" spc="-19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OSTutorLLM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485863" y="3303687"/>
            <a:ext cx="559202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A Course-Grounded Operating Systems Tutor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19170" y="3880267"/>
            <a:ext cx="63667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Course Project · Academic Session 2025–2026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19170" y="5571450"/>
            <a:ext cx="636670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Grounded learning and interactive practice for undergraduate operating systems.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3066" y="2284809"/>
            <a:ext cx="3437348" cy="2288282"/>
          </a:xfrm>
          <a:prstGeom prst="rect">
            <a:avLst/>
          </a:prstGeom>
          <a:solidFill>
            <a:srgbClr val="F2F4F6"/>
          </a:solidFill>
          <a:ln w="6350">
            <a:solidFill>
              <a:srgbClr val="5B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78010" y="2494359"/>
            <a:ext cx="3202403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 PROJECT DETAILS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78010" y="2766120"/>
            <a:ext cx="2967459" cy="1597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1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Course:</a:t>
            </a:r>
            <a:r>
              <a:rPr lang="en-US" sz="11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BCSE303L — Operating Systems</a:t>
            </a:r>
            <a:endParaRPr lang="en-US" sz="1100" dirty="0"/>
          </a:p>
          <a:p>
            <a:pPr marL="0" indent="0" algn="l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1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Institution:</a:t>
            </a:r>
            <a:r>
              <a:rPr lang="en-US" sz="11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VIT Vellore</a:t>
            </a:r>
            <a:endParaRPr lang="en-US" sz="1100" dirty="0"/>
          </a:p>
          <a:p>
            <a:pPr marL="0" indent="0" algn="l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1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Team:</a:t>
            </a:r>
            <a:r>
              <a:rPr lang="en-US" sz="11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[INSERT TEAM NUMBER]</a:t>
            </a:r>
            <a:endParaRPr lang="en-US" sz="1100" dirty="0"/>
          </a:p>
          <a:p>
            <a:pPr marL="0" indent="0" algn="l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1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Members:</a:t>
            </a:r>
            <a:r>
              <a:rPr lang="en-US" sz="11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Gautham. G  24BCE2148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Faculty:</a:t>
            </a:r>
            <a:r>
              <a:rPr lang="en-US" sz="11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[INSERT FACULTY NAME]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02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PROJECT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538079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Introduction and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13830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987" y="1301155"/>
            <a:ext cx="5435464" cy="4330700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  <a:effectLst>
            <a:outerShdw blurRad="30480" dist="11430" dir="5400000" algn="bl" rotWithShape="0">
              <a:srgbClr val="0B1F3A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30" y="1536105"/>
            <a:ext cx="5149721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PROBLEM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3730" y="1745159"/>
            <a:ext cx="48639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Challenges in course study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730" y="2103140"/>
            <a:ext cx="4863978" cy="135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OS learning resources are spread across slides, notes, and lab manuals.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General chatbots may lack grounding in uploaded course material.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Students need explanations, practice, and numerical verification.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8244" y="1301155"/>
            <a:ext cx="5435464" cy="4330700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  <a:effectLst>
            <a:outerShdw blurRad="30480" dist="11430" dir="5400000" algn="bl" rotWithShape="0">
              <a:srgbClr val="0B1F3A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3987" y="1536105"/>
            <a:ext cx="5149721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OBJECTIVES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3987" y="1745159"/>
            <a:ext cx="48639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Targeted system capabilities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3987" y="2103140"/>
            <a:ext cx="4863978" cy="928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Generate OS explanations with inspectable </a:t>
            </a: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source evidence</a:t>
            </a: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Provide MCQs, viva practice, and shell-lab exercises (</a:t>
            </a: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adaptive practice</a:t>
            </a: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).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Track topic-wise performance and verify </a:t>
            </a: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CPU schedules</a:t>
            </a: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987" y="5758855"/>
            <a:ext cx="11175720" cy="41781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7987" y="5758855"/>
            <a:ext cx="38099" cy="417810"/>
          </a:xfrm>
          <a:prstGeom prst="rect">
            <a:avLst/>
          </a:prstGeom>
          <a:solidFill>
            <a:srgbClr val="C01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5863947"/>
            <a:ext cx="1093442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Focus:</a:t>
            </a: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Verifiable course grounding, curriculum-aligned self-testing, and deterministic scheduling evaluation.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987" y="6307951"/>
            <a:ext cx="1168370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BCSE303L Operating Systems · Project Scope &amp; Core Requirements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987" y="6555085"/>
            <a:ext cx="125965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OSTutorLLM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SYSTEM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715879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Methodology and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28914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7987" y="1387574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PIPELINE 1: DOCUMENT PREPARATION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7987" y="1570434"/>
            <a:ext cx="2679633" cy="1643955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2931" y="1805384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2931" y="2033191"/>
            <a:ext cx="22097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Course documents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2931" y="2339102"/>
            <a:ext cx="2209745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Extract PDF/PPTX text; retain filenames and page/slide numbers.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40016" y="1570434"/>
            <a:ext cx="2679633" cy="1643955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74961" y="1805384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74961" y="2033191"/>
            <a:ext cx="22097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Chunking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74961" y="2339102"/>
            <a:ext cx="220974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Split content into overlapping chunks.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046" y="1570434"/>
            <a:ext cx="2679633" cy="1643955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6990" y="1805384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990" y="2033191"/>
            <a:ext cx="22097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MiniLM embeddings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6990" y="2339102"/>
            <a:ext cx="220974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Generate MiniLM embeddings.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04075" y="1570434"/>
            <a:ext cx="2679633" cy="1643955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39019" y="1805384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9019" y="2033191"/>
            <a:ext cx="22097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Chroma index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39019" y="2339102"/>
            <a:ext cx="244468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Build a Chroma index.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987" y="325249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PIPELINE 2: QUESTION ANSWERING (RETRIEVAL PRECEDES GENERATION)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987" y="3435350"/>
            <a:ext cx="2679633" cy="1643955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2931" y="3670300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2931" y="3898106"/>
            <a:ext cx="22097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Student question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2931" y="4204018"/>
            <a:ext cx="244468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Student question.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40016" y="3435350"/>
            <a:ext cx="2679633" cy="1643955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74961" y="3670300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74961" y="3898106"/>
            <a:ext cx="22097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Hybrid retrieval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74961" y="4204018"/>
            <a:ext cx="220974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Combine semantic retrieval with BM25 keyword ranking.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046" y="3435350"/>
            <a:ext cx="2679633" cy="1643955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6990" y="3670300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6990" y="3898106"/>
            <a:ext cx="22097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Evidence + Qwen3-4B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6990" y="4204018"/>
            <a:ext cx="2209745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Supply retrieved evidence to Qwen3-4B for answer generation.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04075" y="3435350"/>
            <a:ext cx="2679633" cy="1643955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39019" y="3670300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39019" y="3898106"/>
            <a:ext cx="22097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Answer with sources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39019" y="4204018"/>
            <a:ext cx="244468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Answer with sources.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7987" y="5117405"/>
            <a:ext cx="11175720" cy="899120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  <a:effectLst>
            <a:outerShdw blurRad="30480" dist="11430" dir="5400000" algn="bl" rotWithShape="0">
              <a:srgbClr val="0B1F3A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2931" y="5355848"/>
            <a:ext cx="10705832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Technology stack:</a:t>
            </a: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Gradio: browser interface · SQLite: quiz progress · Colab GPU: model execution · Google Drive: saved documents and progress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7987" y="6058912"/>
            <a:ext cx="1168370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Qwen3-4B is pretrained and used with RAG.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7987" y="6555085"/>
            <a:ext cx="125965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OSTutorLLM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1057374"/>
            <a:ext cx="11175720" cy="6350"/>
          </a:xfrm>
          <a:prstGeom prst="rect">
            <a:avLst/>
          </a:prstGeom>
          <a:solidFill>
            <a:srgbClr val="D5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7987" y="330200"/>
            <a:ext cx="11175720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TUTOR INTERFACE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7987" y="538079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Implementation and Results — OS Tutor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87" y="1223268"/>
            <a:ext cx="507312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Key implementation points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987" y="1581249"/>
            <a:ext cx="5073126" cy="167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Implemented browser-based OS question answering.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Displayed retrieved filenames and page/slide references.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Added simple, exam-answer, viva, and shell-lab modes.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Added MCQ generation, grading, and saved topic-wise progress.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Used recent quiz performance to request difficulty levels.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Skipped generation when no evidence passed the retrieval threshold.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7987" y="3385145"/>
            <a:ext cx="5073126" cy="929481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987" y="3385145"/>
            <a:ext cx="38099" cy="929481"/>
          </a:xfrm>
          <a:prstGeom prst="rect">
            <a:avLst/>
          </a:prstGeom>
          <a:solidFill>
            <a:srgbClr val="C01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3083" y="3461345"/>
            <a:ext cx="4781034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350"/>
              </a:spcAft>
              <a:buNone/>
            </a:pPr>
            <a:r>
              <a:rPr lang="en-US" sz="11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Demonstration prompt:</a:t>
            </a:r>
            <a:r>
              <a:rPr lang="en-US" sz="11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“Explain FCFS scheduling. Is it preemptive or non-preemptive?”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Expected concept (not a captured result):</a:t>
            </a:r>
            <a:r>
              <a:rPr lang="en-US" sz="11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“Arrival-order scheduling; non-preemptive execution.”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85807" y="2056705"/>
            <a:ext cx="5797901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UI CAPTURE SLOT 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58850" y="2264172"/>
            <a:ext cx="525181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[INSERT ACTUAL ANSWER AND SOURCE-EVIDENCE SCREENSHOT]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85807" y="2777252"/>
            <a:ext cx="579790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Screenshot placeholder: Q&amp;A tab, generated response, cited slide number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7987" y="6358751"/>
            <a:ext cx="1117572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Interface verification conducted via Gradio web runtime on Colab GPU instance.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987" y="6555085"/>
            <a:ext cx="125965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OSTutorLLM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4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E36CDED-C8FE-C645-B2C8-A40F6FD87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469" y="897676"/>
            <a:ext cx="6231349" cy="29285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82464AB-4102-69DF-D1DA-83E337D75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470" y="3849885"/>
            <a:ext cx="6231350" cy="2928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LAB MODULE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715879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Implementation and Results — Scheduling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28914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7987" y="1483618"/>
            <a:ext cx="507312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Deterministic calculations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987" y="1816199"/>
            <a:ext cx="5073126" cy="1212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Added an interactive CPU scheduling calculator.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Implemented FCFS, non-preemptive SJF, and Round Robin.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Calculated completion, turnaround, and waiting times in Python.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Displayed execution intervals using a Gantt chart.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Python calculates the numbers; the LLM explains concepts.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7987" y="3111500"/>
            <a:ext cx="5073126" cy="1217811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7987" y="3111500"/>
            <a:ext cx="38099" cy="1217811"/>
          </a:xfrm>
          <a:prstGeom prst="rect">
            <a:avLst/>
          </a:prstGeom>
          <a:solidFill>
            <a:srgbClr val="C01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4681" y="3342322"/>
            <a:ext cx="457783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Worked-example input:</a:t>
            </a:r>
            <a:r>
              <a:rPr lang="en-US" sz="11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P1: arrival 0, burst 5 · P2: arrival 1, burst 3 · P3: arrival 2, burst 1 · Round Robin quantum: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4681" y="3758327"/>
            <a:ext cx="4577839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Assumptions: Single CPU; one CPU burst per process; no I/O; zero context-switch overhead.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85807" y="1476474"/>
            <a:ext cx="5797901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WORKED EXAMPLE — TIME UNITS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85807" y="1703784"/>
          <a:ext cx="5797902" cy="1498463"/>
        </p:xfrm>
        <a:graphic>
          <a:graphicData uri="http://schemas.openxmlformats.org/drawingml/2006/table">
            <a:tbl>
              <a:tblPr/>
              <a:tblGrid>
                <a:gridCol w="2667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1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Algorithm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Average Waiting Time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Average Turnaround Time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FCFS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3.33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6.33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Non-preemptive SJF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2.67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5.67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Round Robin, quantum 2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3.33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0"/>
                        </a:rPr>
                        <a:t>6.33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07987" y="6180951"/>
            <a:ext cx="4844533" cy="374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Worked example metrics computed programmatically; values illustrate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deterministic execution behavior.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7987" y="6555085"/>
            <a:ext cx="125965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OSTutorLLM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5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804D0A-E8C1-9EFF-A34C-B120F6A1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410" y="3373790"/>
            <a:ext cx="6344536" cy="32005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444923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SUMMARY &amp;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1652802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Conclusion and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2226072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987" y="2413397"/>
            <a:ext cx="5435464" cy="2154436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  <a:effectLst>
            <a:outerShdw blurRad="30480" dist="11430" dir="5400000" algn="bl" rotWithShape="0">
              <a:srgbClr val="0B1F3A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30" y="2648347"/>
            <a:ext cx="5149721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CURRENT SYSTEM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3730" y="2857401"/>
            <a:ext cx="48639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Implemented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730" y="3189982"/>
            <a:ext cx="4863978" cy="928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Integrated course-grounded explanations and source evidence.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Added practice generation and rule-based difficulty adaptation.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Added deterministic CPU scheduling verification.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8244" y="2413397"/>
            <a:ext cx="5435464" cy="2154436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  <a:effectLst>
            <a:outerShdw blurRad="30480" dist="11430" dir="5400000" algn="bl" rotWithShape="0">
              <a:srgbClr val="0B1F3A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3987" y="2648347"/>
            <a:ext cx="5149721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ROADMAP &amp; CONSTRAINTS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3987" y="2857401"/>
            <a:ext cx="48639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Limitations and next steps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3987" y="3189982"/>
            <a:ext cx="4863978" cy="1142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Answer quality depends on document coverage and extraction.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Generated answers and MCQs require factual review.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Future work: OCR, formal evaluation, and independent hosting.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987" y="4694833"/>
            <a:ext cx="11175720" cy="41781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7987" y="4694833"/>
            <a:ext cx="38099" cy="417810"/>
          </a:xfrm>
          <a:prstGeom prst="rect">
            <a:avLst/>
          </a:prstGeom>
          <a:solidFill>
            <a:srgbClr val="C01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4799925"/>
            <a:ext cx="1093442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Current deployment:</a:t>
            </a: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 Gradio interface connected to an active Colab runtime.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987" y="5243929"/>
            <a:ext cx="1168370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OSTutorLLM Project Assessment · BCSE303L Operating Systems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987" y="6555085"/>
            <a:ext cx="125965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OSTutorLLM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100" spc="76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ACADEMIC CITATIONS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715879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28914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987" y="2696071"/>
            <a:ext cx="11175720" cy="2095996"/>
          </a:xfrm>
          <a:prstGeom prst="rect">
            <a:avLst/>
          </a:prstGeom>
          <a:solidFill>
            <a:srgbClr val="F2F4F6"/>
          </a:solidFill>
          <a:ln w="6350">
            <a:solidFill>
              <a:srgbClr val="D5DAE0"/>
            </a:solidFill>
            <a:prstDash val="solid"/>
          </a:ln>
          <a:effectLst>
            <a:outerShdw blurRad="30480" dist="11430" dir="5400000" algn="bl" rotWithShape="0">
              <a:srgbClr val="0B1F3A">
                <a:alpha val="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30" y="2905621"/>
            <a:ext cx="10604235" cy="167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Lewis, P., et al. (2020). Retrieval-Augmented Generation for Knowledge-Intensive NLP Tasks. </a:t>
            </a:r>
            <a:r>
              <a:rPr lang="en-US" sz="1300" b="1" u="sng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https://arxiv.org/abs/2005.11401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Reimers, N., and Gurevych, I. (2019). Sentence-BERT: Sentence Embeddings using Siamese BERT-Networks. </a:t>
            </a:r>
            <a:r>
              <a:rPr lang="en-US" sz="1300" b="1" u="sng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https://aclanthology.org/D19-1410/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Qwen Team. Qwen3-4B model card. </a:t>
            </a:r>
            <a:r>
              <a:rPr lang="en-US" sz="1300" b="1" u="sng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https://huggingface.co/Qwen/Qwen3-4B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Sentence Transformers. all-MiniLM-L6-v2 model card. </a:t>
            </a:r>
            <a:r>
              <a:rPr lang="en-US" sz="1300" b="1" u="sng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https://huggingface.co/sentence-transformers/all-MiniLM-L6-v2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Chroma. Official documentation. </a:t>
            </a:r>
            <a:r>
              <a:rPr lang="en-US" sz="1300" b="1" u="sng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https://docs.trychroma.com/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Gradio. Official documentation. </a:t>
            </a:r>
            <a:r>
              <a:rPr lang="en-US" sz="1300" b="1" u="sng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https://www.gradio.app/docs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87" y="4834453"/>
            <a:ext cx="1168370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Publications, foundational model documentation, and open-source system libraries used in this project.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87" y="6555085"/>
            <a:ext cx="125965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OSTutorLLM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B1F3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929</Words>
  <Application>Microsoft Office PowerPoint</Application>
  <PresentationFormat>Widescreen</PresentationFormat>
  <Paragraphs>143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Arimo Bold</vt:lpstr>
      <vt:lpstr>Arial</vt:lpstr>
      <vt:lpstr>Arimo SemiBold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Gautham G</cp:lastModifiedBy>
  <cp:revision>2</cp:revision>
  <dcterms:created xsi:type="dcterms:W3CDTF">2026-10-22T20:39:33Z</dcterms:created>
  <dcterms:modified xsi:type="dcterms:W3CDTF">2026-10-23T02:58:48Z</dcterms:modified>
</cp:coreProperties>
</file>